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Merriweath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Merriweather-italic.fntdata"/><Relationship Id="rId27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f63f163b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f63f163b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f63f163b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f63f163b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f63f163b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f63f163b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f63f163bd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f63f163bd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f63f163bd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f63f163b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f63f163bd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f63f163bd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a767f3d42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a767f3d42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a767f3d42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a767f3d42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a767f3d42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a767f3d42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a767f3d42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a767f3d42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6c579068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6c579068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a767f3d42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a767f3d42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b15dec0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b15dec0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a767f3d42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a767f3d42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a767f3d4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a767f3d4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hyperlink" Target="https://docs.google.com/spreadsheets/d/1Wet3hvXIElzK6eD7wXQeXx7nQDkMxnmVZ5MyvcNb8l4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Projecte: Neteja parabrises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Hèctor Rodríguez i Marypaz Carreño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/>
              <a:t>Índice</a:t>
            </a:r>
            <a:endParaRPr sz="4100"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-Funcionalidad</a:t>
            </a:r>
            <a:endParaRPr sz="2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-Objetivos</a:t>
            </a:r>
            <a:endParaRPr sz="2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-Diagrama de bloques</a:t>
            </a:r>
            <a:endParaRPr sz="2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-Puntos críticos</a:t>
            </a:r>
            <a:endParaRPr sz="2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-Componentes</a:t>
            </a:r>
            <a:endParaRPr sz="2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-PCB, Esquemático, Visión 3D</a:t>
            </a:r>
            <a:endParaRPr sz="2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-Presupuesto</a:t>
            </a:r>
            <a:endParaRPr sz="2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158575" y="2146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/>
              <a:t>Funcionalidad</a:t>
            </a:r>
            <a:endParaRPr sz="5000"/>
          </a:p>
        </p:txBody>
      </p:sp>
      <p:sp>
        <p:nvSpPr>
          <p:cNvPr id="77" name="Google Shape;77;p15"/>
          <p:cNvSpPr txBox="1"/>
          <p:nvPr/>
        </p:nvSpPr>
        <p:spPr>
          <a:xfrm>
            <a:off x="244475" y="1457125"/>
            <a:ext cx="8423100" cy="3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Gestionar el movimiento de las escobillas, el rociado del líquido limpiador mediante dos bombas y el calentamiento del sistema mediante un calefactor.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Cuando el usuario activa el mando, la PCB recibe la señal y enciende el motor del limpiaparabrisas en el modo seleccionado. También puede activar una de las dos bombas, por ejemplo una para el parabrisas delantero y otra para el cristal trasero, enviando líquido limpiador antes o durante el movimiento de las escobillas.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Además, la PCB controla el calefactor, que sirve para calentar el líquido o la zona del sistema de lavado, evitando congelación y mejorando el funcionamiento en bajas temperaturas.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215825" y="1904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/>
              <a:t>Objetivos</a:t>
            </a:r>
            <a:endParaRPr sz="5000"/>
          </a:p>
        </p:txBody>
      </p:sp>
      <p:sp>
        <p:nvSpPr>
          <p:cNvPr id="83" name="Google Shape;83;p16"/>
          <p:cNvSpPr txBox="1"/>
          <p:nvPr/>
        </p:nvSpPr>
        <p:spPr>
          <a:xfrm>
            <a:off x="256575" y="1481325"/>
            <a:ext cx="7576200" cy="3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Mantener las lunas del coche todo lo limpias posible para que el conductor pueda tener una buen visibilidad.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757525" y="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/>
              <a:t>Diagrama de </a:t>
            </a:r>
            <a:r>
              <a:rPr lang="es" sz="4200"/>
              <a:t>bloques</a:t>
            </a:r>
            <a:endParaRPr sz="4200"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998" y="914100"/>
            <a:ext cx="7038901" cy="4222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03800" y="1783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/>
              <a:t>Puntos críticos</a:t>
            </a:r>
            <a:endParaRPr sz="5000"/>
          </a:p>
        </p:txBody>
      </p:sp>
      <p:sp>
        <p:nvSpPr>
          <p:cNvPr id="95" name="Google Shape;95;p18"/>
          <p:cNvSpPr txBox="1"/>
          <p:nvPr/>
        </p:nvSpPr>
        <p:spPr>
          <a:xfrm>
            <a:off x="292875" y="1493425"/>
            <a:ext cx="7939200" cy="3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Planos de alimentacion.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Cantidad de pines para switches.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Routing de la parte de potencia.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Dimensiones de pista, debido a la alta corriente.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206975" y="2146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/>
              <a:t>Componentes</a:t>
            </a:r>
            <a:endParaRPr sz="5000"/>
          </a:p>
        </p:txBody>
      </p:sp>
      <p:sp>
        <p:nvSpPr>
          <p:cNvPr id="101" name="Google Shape;101;p19"/>
          <p:cNvSpPr txBox="1"/>
          <p:nvPr/>
        </p:nvSpPr>
        <p:spPr>
          <a:xfrm>
            <a:off x="268675" y="1396600"/>
            <a:ext cx="3061800" cy="3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s" sz="1500">
                <a:latin typeface="Calibri"/>
                <a:ea typeface="Calibri"/>
                <a:cs typeface="Calibri"/>
                <a:sym typeface="Calibri"/>
              </a:rPr>
              <a:t> Microcontrolador PIC24HJ64GP504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s" sz="1500">
                <a:latin typeface="Calibri"/>
                <a:ea typeface="Calibri"/>
                <a:cs typeface="Calibri"/>
                <a:sym typeface="Calibri"/>
              </a:rPr>
              <a:t> Regulador buck LM2596S-5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s" sz="1500">
                <a:latin typeface="Calibri"/>
                <a:ea typeface="Calibri"/>
                <a:cs typeface="Calibri"/>
                <a:sym typeface="Calibri"/>
              </a:rPr>
              <a:t>Regulador LDO LM1117DT-3.3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s" sz="1500">
                <a:latin typeface="Calibri"/>
                <a:ea typeface="Calibri"/>
                <a:cs typeface="Calibri"/>
                <a:sym typeface="Calibri"/>
              </a:rPr>
              <a:t>Driver de motor DRV8871DDA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s" sz="1500">
                <a:latin typeface="Calibri"/>
                <a:ea typeface="Calibri"/>
                <a:cs typeface="Calibri"/>
                <a:sym typeface="Calibri"/>
              </a:rPr>
              <a:t>Transceptor CAN TJA1049TK-3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s" sz="1500">
                <a:latin typeface="Calibri"/>
                <a:ea typeface="Calibri"/>
                <a:cs typeface="Calibri"/>
                <a:sym typeface="Calibri"/>
              </a:rPr>
              <a:t>Transceptor RS232 MAX232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s" sz="1500">
                <a:latin typeface="Calibri"/>
                <a:ea typeface="Calibri"/>
                <a:cs typeface="Calibri"/>
                <a:sym typeface="Calibri"/>
              </a:rPr>
              <a:t>Sensor HDC2080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s" sz="1500">
                <a:latin typeface="Calibri"/>
                <a:ea typeface="Calibri"/>
                <a:cs typeface="Calibri"/>
                <a:sym typeface="Calibri"/>
              </a:rPr>
              <a:t>Relés Fujitsu FTR-LYAA005x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s" sz="1500">
                <a:latin typeface="Calibri"/>
                <a:ea typeface="Calibri"/>
                <a:cs typeface="Calibri"/>
                <a:sym typeface="Calibri"/>
              </a:rPr>
              <a:t>Transistores MMBT3904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s" sz="1500">
                <a:latin typeface="Calibri"/>
                <a:ea typeface="Calibri"/>
                <a:cs typeface="Calibri"/>
                <a:sym typeface="Calibri"/>
              </a:rPr>
              <a:t>Diodo TVS SM6T24A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s" sz="1500">
                <a:latin typeface="Calibri"/>
                <a:ea typeface="Calibri"/>
                <a:cs typeface="Calibri"/>
                <a:sym typeface="Calibri"/>
              </a:rPr>
              <a:t>Diodos genéricos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s" sz="1500">
                <a:latin typeface="Calibri"/>
                <a:ea typeface="Calibri"/>
                <a:cs typeface="Calibri"/>
                <a:sym typeface="Calibri"/>
              </a:rPr>
              <a:t>LED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3947775" y="1384500"/>
            <a:ext cx="31587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 Ferrita (Ferrite Bead)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 Inductor 33uH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Cristal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 Resistencias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Resistencia calefactor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Condensadores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Pulsadores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Selector rotativo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Finales de carrera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Conectores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Jumper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Test points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 Borneras / terminales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00925"/>
            <a:ext cx="8839200" cy="3626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063" y="353738"/>
            <a:ext cx="8041874" cy="443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09475"/>
            <a:ext cx="8520600" cy="4324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BOTONERA</a:t>
            </a:r>
            <a:endParaRPr sz="2000"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0850" y="500925"/>
            <a:ext cx="7010074" cy="441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206975" y="202525"/>
            <a:ext cx="14823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/>
              <a:t>PCB</a:t>
            </a:r>
            <a:endParaRPr sz="5000"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6025" y="40750"/>
            <a:ext cx="6603180" cy="50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963175"/>
            <a:ext cx="4799138" cy="371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5495963" y="1348012"/>
            <a:ext cx="3728337" cy="294441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/>
          <p:nvPr/>
        </p:nvSpPr>
        <p:spPr>
          <a:xfrm>
            <a:off x="772975" y="325475"/>
            <a:ext cx="327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TOP</a:t>
            </a:r>
            <a:endParaRPr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5476050" y="432850"/>
            <a:ext cx="327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BOTTOM</a:t>
            </a:r>
            <a:endParaRPr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Gerbers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7225" y="125250"/>
            <a:ext cx="6175800" cy="489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500925"/>
            <a:ext cx="7927597" cy="37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Pressupost </a:t>
            </a:r>
            <a:endParaRPr/>
          </a:p>
        </p:txBody>
      </p:sp>
      <p:pic>
        <p:nvPicPr>
          <p:cNvPr id="157" name="Google Shape;1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77025"/>
            <a:ext cx="286702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96225"/>
            <a:ext cx="23145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8"/>
          <p:cNvSpPr txBox="1"/>
          <p:nvPr/>
        </p:nvSpPr>
        <p:spPr>
          <a:xfrm>
            <a:off x="302225" y="3289525"/>
            <a:ext cx="8520600" cy="17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Unitari: (x10)=&gt;23.43$, (x50)=&gt;21.8$, (x1000)=&gt;13.14$, (x20000)=&gt;23.59$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Total: </a:t>
            </a: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(x10)=&gt;234.35$, (x50)=&gt;1090$, (x1000)=&gt;13194$, (x20000)=&gt;471894$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8"/>
          <p:cNvSpPr txBox="1"/>
          <p:nvPr/>
        </p:nvSpPr>
        <p:spPr>
          <a:xfrm>
            <a:off x="2529650" y="1990350"/>
            <a:ext cx="6513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chemeClr val="hlink"/>
                </a:solidFill>
                <a:hlinkClick r:id="rId5"/>
              </a:rPr>
              <a:t>https://docs.google.com/spreadsheets/d/1Wet3hvXIElzK6eD7wXQeXx7nQDkMxnmVZ5MyvcNb8l4/edit?usp=sharing</a:t>
            </a:r>
            <a:endParaRPr/>
          </a:p>
        </p:txBody>
      </p:sp>
      <p:sp>
        <p:nvSpPr>
          <p:cNvPr id="161" name="Google Shape;161;p28"/>
          <p:cNvSpPr txBox="1"/>
          <p:nvPr/>
        </p:nvSpPr>
        <p:spPr>
          <a:xfrm>
            <a:off x="3297125" y="1700625"/>
            <a:ext cx="23145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Excel: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